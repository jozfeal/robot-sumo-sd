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lay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6AFBFD-F47D-4E29-A8F8-E635587CCCB6}">
  <a:tblStyle styleId="{226AFBFD-F47D-4E29-A8F8-E635587CCC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1171bfd9aa87089_7_35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h1171bfd9aa87089_7_35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h1171bfd9aa87089_7_35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1171bfd9aa87089_7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h1171bfd9aa87089_7_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h1171bfd9aa87089_7_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1171bfd9aa87089_7_3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h1171bfd9aa87089_7_3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1171bfd9aa87089_7_3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171bfd9aa87089_7_1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h1171bfd9aa87089_7_1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1171bfd9aa87089_7_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1171bfd9aa87089_7_1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h1171bfd9aa87089_7_1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1171bfd9aa87089_7_1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171bfd9aa87089_7_1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h1171bfd9aa87089_7_1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1171bfd9aa87089_7_1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1171bfd9aa87089_6_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h1171bfd9aa87089_6_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h1171bfd9aa87089_6_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171bfd9aa87089_7_3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h1171bfd9aa87089_7_3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1171bfd9aa87089_7_3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171bfd9aa87089_7_2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h1171bfd9aa87089_7_2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h1171bfd9aa87089_7_2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171bfd9aa87089_7_4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h1171bfd9aa87089_7_4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1171bfd9aa87089_7_4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1171bfd9aa87089_7_4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h1171bfd9aa87089_7_4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1171bfd9aa87089_7_4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171bfd9aa87089_7_2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h1171bfd9aa87089_7_2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h1171bfd9aa87089_7_2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1171bfd9aa87089_7_3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h1171bfd9aa87089_7_3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1171bfd9aa87089_7_3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171bfd9aa87089_7_3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h1171bfd9aa87089_7_3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1171bfd9aa87089_7_3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171bfd9aa87089_7_2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h1171bfd9aa87089_7_2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1171bfd9aa87089_7_2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171bfd9aa87089_6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h1171bfd9aa87089_6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1171bfd9aa87089_6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1171bfd9aa87089_6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h1171bfd9aa87089_6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1171bfd9aa87089_6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171bfd9aa87089_6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h1171bfd9aa87089_6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h1171bfd9aa87089_6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171bfd9aa87089_6_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h1171bfd9aa87089_6_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h1171bfd9aa87089_6_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171bfd9aa87089_6_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h1171bfd9aa87089_6_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h1171bfd9aa87089_6_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171bfd9aa87089_6_1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h1171bfd9aa87089_6_1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h1171bfd9aa87089_6_1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1171bfd9aa87089_7_4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h1171bfd9aa87089_7_4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h1171bfd9aa87089_7_4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1171bfd9aa87089_6_1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h1171bfd9aa87089_6_1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h1171bfd9aa87089_6_1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h1171bfd9aa87089_7_4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h1171bfd9aa87089_7_4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h1171bfd9aa87089_7_4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B111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"/>
          <p:cNvCxnSpPr/>
          <p:nvPr/>
        </p:nvCxnSpPr>
        <p:spPr>
          <a:xfrm>
            <a:off x="0" y="0"/>
            <a:ext cx="2263200" cy="0"/>
          </a:xfrm>
          <a:prstGeom prst="straightConnector1">
            <a:avLst/>
          </a:prstGeom>
          <a:noFill/>
          <a:ln cap="flat" cmpd="sng" w="219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3"/>
          <p:cNvCxnSpPr/>
          <p:nvPr/>
        </p:nvCxnSpPr>
        <p:spPr>
          <a:xfrm>
            <a:off x="7029450" y="0"/>
            <a:ext cx="2112300" cy="0"/>
          </a:xfrm>
          <a:prstGeom prst="straightConnector1">
            <a:avLst/>
          </a:prstGeom>
          <a:noFill/>
          <a:ln cap="flat" cmpd="sng" w="219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3"/>
          <p:cNvSpPr/>
          <p:nvPr/>
        </p:nvSpPr>
        <p:spPr>
          <a:xfrm>
            <a:off x="0" y="4992624"/>
            <a:ext cx="233100" cy="150900"/>
          </a:xfrm>
          <a:prstGeom prst="rect">
            <a:avLst/>
          </a:prstGeom>
          <a:solidFill>
            <a:srgbClr val="F43F5E"/>
          </a:solidFill>
          <a:ln cap="flat" cmpd="sng" w="9525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8908542" y="4992624"/>
            <a:ext cx="233100" cy="1509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288036" y="4855464"/>
            <a:ext cx="16458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Robot Sumo Simulation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93074" y="4834890"/>
            <a:ext cx="205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6d-5ef58LyReO35Bsa1E7zCjfPHN7q8Q/view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y1YncMUsNF-jHd5hYyvcJ4cVQh8aj9Cs/view" TargetMode="External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NUmM5xd0vV6KJkT9l_Z_zoSDqFxdpsAH/view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38" y="6"/>
            <a:ext cx="9143700" cy="5143500"/>
          </a:xfrm>
          <a:prstGeom prst="rect">
            <a:avLst/>
          </a:prstGeom>
          <a:solidFill>
            <a:srgbClr val="0B111C"/>
          </a:solidFill>
          <a:ln cap="flat" cmpd="sng" w="9525">
            <a:solidFill>
              <a:srgbClr val="0B11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0" y="0"/>
            <a:ext cx="2263200" cy="0"/>
          </a:xfrm>
          <a:prstGeom prst="straightConnector1">
            <a:avLst/>
          </a:prstGeom>
          <a:noFill/>
          <a:ln cap="flat" cmpd="sng" w="219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7029450" y="0"/>
            <a:ext cx="2112300" cy="0"/>
          </a:xfrm>
          <a:prstGeom prst="straightConnector1">
            <a:avLst/>
          </a:prstGeom>
          <a:noFill/>
          <a:ln cap="flat" cmpd="sng" w="219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/>
          <p:nvPr/>
        </p:nvSpPr>
        <p:spPr>
          <a:xfrm>
            <a:off x="1157102" y="399330"/>
            <a:ext cx="62565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00"/>
              <a:buFont typeface="Play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Robot Sumo </a:t>
            </a:r>
            <a:r>
              <a:rPr lang="en-US" sz="2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Simulation: </a:t>
            </a:r>
            <a:endParaRPr sz="2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00"/>
              <a:buFont typeface="Play"/>
              <a:buNone/>
            </a:pPr>
            <a:r>
              <a:rPr lang="en-US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Training Robot Sumo Agents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45775" y="2307300"/>
            <a:ext cx="37170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</a:rPr>
              <a:t>Team: </a:t>
            </a:r>
            <a:r>
              <a:rPr lang="en-US" sz="1200">
                <a:solidFill>
                  <a:schemeClr val="lt1"/>
                </a:solidFill>
              </a:rPr>
              <a:t>Adebare Kofo-Abayomi</a:t>
            </a:r>
            <a:r>
              <a:rPr b="1" lang="en-US" sz="1200">
                <a:solidFill>
                  <a:schemeClr val="lt1"/>
                </a:solidFill>
              </a:rPr>
              <a:t>, </a:t>
            </a:r>
            <a:r>
              <a:rPr lang="en-US" sz="1200">
                <a:solidFill>
                  <a:schemeClr val="lt1"/>
                </a:solidFill>
              </a:rPr>
              <a:t>Avlynn Wade</a:t>
            </a:r>
            <a:r>
              <a:rPr b="1" lang="en-US" sz="1200">
                <a:solidFill>
                  <a:schemeClr val="lt1"/>
                </a:solidFill>
              </a:rPr>
              <a:t>, </a:t>
            </a:r>
            <a:r>
              <a:rPr lang="en-US" sz="1200">
                <a:solidFill>
                  <a:schemeClr val="lt1"/>
                </a:solidFill>
              </a:rPr>
              <a:t>Faysal Zaki</a:t>
            </a:r>
            <a:r>
              <a:rPr b="1" lang="en-US" sz="1200">
                <a:solidFill>
                  <a:schemeClr val="lt1"/>
                </a:solidFill>
              </a:rPr>
              <a:t>,</a:t>
            </a:r>
            <a:r>
              <a:rPr b="1" i="0" lang="en-US" sz="1200" u="none" cap="none" strike="noStrike">
                <a:solidFill>
                  <a:schemeClr val="lt1"/>
                </a:solidFill>
              </a:rPr>
              <a:t> </a:t>
            </a:r>
            <a:r>
              <a:rPr lang="en-US" sz="1200">
                <a:solidFill>
                  <a:schemeClr val="lt1"/>
                </a:solidFill>
              </a:rPr>
              <a:t>Joshua Oziel Fernández Alvarado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45770" y="3006546"/>
            <a:ext cx="3360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" lIns="100" spcFirstLastPara="1" rIns="100" wrap="square" tIns="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 &amp; Faculty Advisor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Electrical Engineering and Computer Science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 </a:t>
            </a:r>
            <a:r>
              <a:rPr lang="en-US" sz="1000">
                <a:solidFill>
                  <a:schemeClr val="lt1"/>
                </a:solidFill>
              </a:rPr>
              <a:t>Hanks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375" y="1702549"/>
            <a:ext cx="3977700" cy="2854769"/>
          </a:xfrm>
          <a:prstGeom prst="rect">
            <a:avLst/>
          </a:prstGeom>
          <a:noFill/>
          <a:ln cap="flat" cmpd="sng" w="28575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0" name="Google Shape;30;p4"/>
          <p:cNvCxnSpPr/>
          <p:nvPr/>
        </p:nvCxnSpPr>
        <p:spPr>
          <a:xfrm>
            <a:off x="1157100" y="910775"/>
            <a:ext cx="1363500" cy="450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4"/>
          <p:cNvCxnSpPr/>
          <p:nvPr/>
        </p:nvCxnSpPr>
        <p:spPr>
          <a:xfrm flipH="1" rot="10800000">
            <a:off x="2560950" y="909875"/>
            <a:ext cx="2361300" cy="630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" name="Google Shape;32;p4" title="RS_Logo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00" y="296175"/>
            <a:ext cx="1007050" cy="10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445775" y="1702538"/>
            <a:ext cx="3588000" cy="356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285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Milestone 1: Presentation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Reminder: Primary Milestone 1 Tasks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 txBox="1"/>
          <p:nvPr/>
        </p:nvSpPr>
        <p:spPr>
          <a:xfrm>
            <a:off x="377200" y="1520838"/>
            <a:ext cx="81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Create Engine Demos (Unity, Pygame, Godot)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377200" y="2605650"/>
            <a:ext cx="775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Research the RL APIs (Gymnasium, VMAS, PettingZoo, MOMAland)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Resolve AI.Panther Access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Select RL approach (single-agent approach for baseline)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377200" y="3952013"/>
            <a:ext cx="77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Requirements, Test, and Design documents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90900" y="1124750"/>
            <a:ext cx="26559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1. Compare Outlined Tools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90900" y="2204775"/>
            <a:ext cx="3335100" cy="356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285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2. Resolve Technical Challenges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90900" y="3600900"/>
            <a:ext cx="22851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3. Create Documents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Compare Outlined Tools: </a:t>
            </a:r>
            <a:endParaRPr b="1" sz="2500">
              <a:solidFill>
                <a:srgbClr val="F8FAFC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Engine Demos</a:t>
            </a:r>
            <a:endParaRPr sz="2500"/>
          </a:p>
        </p:txBody>
      </p:sp>
      <p:sp>
        <p:nvSpPr>
          <p:cNvPr id="62" name="Google Shape;62;p6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1</a:t>
            </a:r>
            <a:endParaRPr b="1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Godot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8" name="Google Shape;78;p7" title="godot-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0000" y="797136"/>
            <a:ext cx="6261514" cy="3917737"/>
          </a:xfrm>
          <a:prstGeom prst="rect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Pygame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8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8" title="pygame-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338" y="797136"/>
            <a:ext cx="6271321" cy="3917737"/>
          </a:xfrm>
          <a:prstGeom prst="rect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Unity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9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6" name="Google Shape;106;p9" title="sumolo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9563" y="797136"/>
            <a:ext cx="6964870" cy="3917740"/>
          </a:xfrm>
          <a:prstGeom prst="rect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457200" y="1104825"/>
            <a:ext cx="2590800" cy="57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4572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8FAFC"/>
                </a:solidFill>
              </a:rPr>
              <a:t>Pygame</a:t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457200" y="1823963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Simple and easy to code with.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Version dependencies.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No 3D support.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Limited physics integration.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3276600" y="1104825"/>
            <a:ext cx="2590800" cy="57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32766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8FAFC"/>
                </a:solidFill>
              </a:rPr>
              <a:t>Unity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3276600" y="1821425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956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physics in 2D and 3D.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Strong and robust engine.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Lack of developer experience.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Heavy engine slow for debugging.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096000" y="1104825"/>
            <a:ext cx="25908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60960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8FAFC"/>
                </a:solidFill>
              </a:rPr>
              <a:t>Godot</a:t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6096000" y="1819200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physics in 2D and 3D.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Lightweight and open source.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Vehicle classes.</a:t>
            </a:r>
            <a:endParaRPr sz="1275">
              <a:solidFill>
                <a:schemeClr val="lt1"/>
              </a:solidFill>
            </a:endParaRPr>
          </a:p>
          <a:p>
            <a:pPr indent="-30956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Needs external Python integration.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57200" y="44481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6153150" y="679747"/>
            <a:ext cx="2476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43F5E"/>
                </a:solidFill>
              </a:rPr>
              <a:t>Overall Choice: Godot</a:t>
            </a:r>
            <a:endParaRPr/>
          </a:p>
        </p:txBody>
      </p:sp>
      <p:pic>
        <p:nvPicPr>
          <p:cNvPr id="128" name="Google Shape;12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825" y="3200250"/>
            <a:ext cx="1487150" cy="148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25" y="2495463"/>
            <a:ext cx="2699113" cy="2699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6600" y="3301322"/>
            <a:ext cx="2699126" cy="151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Comparison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0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10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Resolve Technical Challenges:</a:t>
            </a:r>
            <a:endParaRPr b="1" sz="2500">
              <a:solidFill>
                <a:srgbClr val="F8FAFC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RL APIs, AI Panther, RL Approaches</a:t>
            </a:r>
            <a:endParaRPr sz="2500"/>
          </a:p>
        </p:txBody>
      </p:sp>
      <p:sp>
        <p:nvSpPr>
          <p:cNvPr id="143" name="Google Shape;143;p11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6D9EEB"/>
          </a:solidFill>
          <a:ln cap="flat" cmpd="sng" w="285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2</a:t>
            </a:r>
            <a:endParaRPr b="1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Resolve Technical Challenges: AI Panther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2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2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9" name="Google Shape;159;p12" title="Screenshot 2026-09-27 at 3.14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00" y="1026089"/>
            <a:ext cx="2976625" cy="3452900"/>
          </a:xfrm>
          <a:prstGeom prst="rect">
            <a:avLst/>
          </a:prstGeom>
          <a:noFill/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12"/>
          <p:cNvSpPr txBox="1"/>
          <p:nvPr/>
        </p:nvSpPr>
        <p:spPr>
          <a:xfrm>
            <a:off x="3699875" y="1428075"/>
            <a:ext cx="5006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The team has </a:t>
            </a:r>
            <a:r>
              <a:rPr lang="en-US" sz="1500">
                <a:solidFill>
                  <a:schemeClr val="lt1"/>
                </a:solidFill>
              </a:rPr>
              <a:t>requested</a:t>
            </a:r>
            <a:r>
              <a:rPr lang="en-US" sz="1500">
                <a:solidFill>
                  <a:schemeClr val="lt1"/>
                </a:solidFill>
              </a:rPr>
              <a:t> AI Panther access with assistance from the faculty </a:t>
            </a:r>
            <a:r>
              <a:rPr lang="en-US" sz="1500">
                <a:solidFill>
                  <a:schemeClr val="lt1"/>
                </a:solidFill>
              </a:rPr>
              <a:t>advisor. 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The team will be attending an AI Panther workshop to learn more about using this selected tool.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699875" y="1026100"/>
            <a:ext cx="2316900" cy="3567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AI Panther Resource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Resolve Technical Challenges: Research RL APIs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3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3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5" name="Google Shape;175;p13"/>
          <p:cNvGraphicFramePr/>
          <p:nvPr/>
        </p:nvGraphicFramePr>
        <p:xfrm>
          <a:off x="625113" y="150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{226AFBFD-F47D-4E29-A8F8-E635587CCCB6}</a:tableStyleId>
              </a:tblPr>
              <a:tblGrid>
                <a:gridCol w="2040150"/>
                <a:gridCol w="3098725"/>
                <a:gridCol w="2754600"/>
              </a:tblGrid>
              <a:tr h="46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Gymnasium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Python based single-agent RL environment, operates through reset() and step() functions.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Minimal API interface, well documented, good choice for single-agent baseline.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9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VMAS (Vectorized Multi-Agent Simulation)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Fast 2D physic simulator, more like a physics engine.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Only supports 2D, less suitable for 3D environments.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3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PettingZoo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Python based API for multi-agent reinforcement learning, similar to Gymnasium.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Strong fit for project. Can handle the proposed MARL requirements.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MOMAland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Similar to PettingZoo, supports multiple objectives and separate rewards.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May be useful for experimenting with different reward strategies.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B82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13"/>
          <p:cNvSpPr/>
          <p:nvPr/>
        </p:nvSpPr>
        <p:spPr>
          <a:xfrm>
            <a:off x="625113" y="1073938"/>
            <a:ext cx="20112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RL API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2712375" y="1073938"/>
            <a:ext cx="30102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Description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5804188" y="1073938"/>
            <a:ext cx="27147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Suitability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625125" y="4272750"/>
            <a:ext cx="819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</a:rPr>
              <a:t>Note:</a:t>
            </a:r>
            <a:r>
              <a:rPr lang="en-US" sz="1300">
                <a:solidFill>
                  <a:schemeClr val="lt1"/>
                </a:solidFill>
              </a:rPr>
              <a:t> the single-agent approach was selected for baseline RL experimentation. Approaches for potential MARL applications will be evaluated if scope allows.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11775" y="1509400"/>
            <a:ext cx="61200" cy="731400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511775" y="2789475"/>
            <a:ext cx="61200" cy="731400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Create Documents:</a:t>
            </a:r>
            <a:endParaRPr b="1" sz="2500">
              <a:solidFill>
                <a:srgbClr val="F8FAFC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Requirements, Test, and Design</a:t>
            </a:r>
            <a:endParaRPr sz="2500"/>
          </a:p>
        </p:txBody>
      </p:sp>
      <p:sp>
        <p:nvSpPr>
          <p:cNvPr id="191" name="Google Shape;191;p14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3</a:t>
            </a:r>
            <a:endParaRPr b="1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Interface Requirements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5"/>
          <p:cNvSpPr txBox="1"/>
          <p:nvPr/>
        </p:nvSpPr>
        <p:spPr>
          <a:xfrm>
            <a:off x="377200" y="1480200"/>
            <a:ext cx="82638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User Interfaces: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The system shall provide a configuration GUI interface that allows users to set robot design options, ring dimensions, and environmental effects before running a match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Software Interfaces: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The system shall be built using Godot (version 4.7.2), obtained from the official Godot Engine distribution site.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Communication Interfaces: </a:t>
            </a:r>
            <a:r>
              <a:rPr lang="en-US">
                <a:solidFill>
                  <a:schemeClr val="lt1"/>
                </a:solidFill>
              </a:rPr>
              <a:t>The system shall submit RL training jobs to AI Panther via SSH access to its login node, and Slurm job submission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Hardware Interfaces: </a:t>
            </a:r>
            <a:r>
              <a:rPr lang="en-US">
                <a:solidFill>
                  <a:schemeClr val="lt1"/>
                </a:solidFill>
              </a:rPr>
              <a:t>The local visualization application shall be able to run on standard consumer/developer hardware (laptop or PC).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90900" y="1123500"/>
            <a:ext cx="36567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Example Interface Requirements: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Functional Requirements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6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6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16"/>
          <p:cNvSpPr txBox="1"/>
          <p:nvPr/>
        </p:nvSpPr>
        <p:spPr>
          <a:xfrm>
            <a:off x="377200" y="1499375"/>
            <a:ext cx="82638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Match Configuration</a:t>
            </a:r>
            <a:r>
              <a:rPr b="1" lang="en-US">
                <a:solidFill>
                  <a:schemeClr val="lt1"/>
                </a:solidFill>
              </a:rPr>
              <a:t>: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The system shall allow the user to configure modular robot design parameters before running a match.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Single-Agent RL Training</a:t>
            </a:r>
            <a:r>
              <a:rPr b="1" lang="en-US">
                <a:solidFill>
                  <a:schemeClr val="lt1"/>
                </a:solidFill>
              </a:rPr>
              <a:t>: </a:t>
            </a:r>
            <a:r>
              <a:rPr lang="en-US">
                <a:solidFill>
                  <a:schemeClr val="lt1"/>
                </a:solidFill>
              </a:rPr>
              <a:t>The system shall train a single agent using the Gymnasium API against an opponent.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Progressive Training:</a:t>
            </a:r>
            <a:r>
              <a:rPr lang="en-US">
                <a:solidFill>
                  <a:schemeClr val="lt1"/>
                </a:solidFill>
              </a:rPr>
              <a:t> The system shall support self-training by allowing an agent to compete against a previously trained version of itself (self-play).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Direct User Participation: </a:t>
            </a:r>
            <a:r>
              <a:rPr lang="en-US">
                <a:solidFill>
                  <a:schemeClr val="lt1"/>
                </a:solidFill>
              </a:rPr>
              <a:t>The system shall allow a user-controlled robot to compete against a trained agent or a hardcoded opponent.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77200" y="1142675"/>
            <a:ext cx="3656700" cy="3567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285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Example Functional Requirements: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Performance Requirements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7"/>
          <p:cNvSpPr txBox="1"/>
          <p:nvPr/>
        </p:nvSpPr>
        <p:spPr>
          <a:xfrm>
            <a:off x="377200" y="1495400"/>
            <a:ext cx="8263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Frame Rates</a:t>
            </a:r>
            <a:r>
              <a:rPr b="1" lang="en-US">
                <a:solidFill>
                  <a:schemeClr val="lt1"/>
                </a:solidFill>
              </a:rPr>
              <a:t>: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The visualization should render at a minimum of 30 frames per second during a match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Memory</a:t>
            </a:r>
            <a:r>
              <a:rPr b="1" lang="en-US">
                <a:solidFill>
                  <a:schemeClr val="lt1"/>
                </a:solidFill>
              </a:rPr>
              <a:t>: </a:t>
            </a:r>
            <a:r>
              <a:rPr lang="en-US">
                <a:solidFill>
                  <a:schemeClr val="lt1"/>
                </a:solidFill>
              </a:rPr>
              <a:t>A single-agent training job shall request no more memory than AI Panther’s partition-specific time limits.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-US">
                <a:solidFill>
                  <a:schemeClr val="lt1"/>
                </a:solidFill>
              </a:rPr>
              <a:t>Launch Speed</a:t>
            </a:r>
            <a:r>
              <a:rPr b="1" lang="en-US">
                <a:solidFill>
                  <a:schemeClr val="lt1"/>
                </a:solidFill>
              </a:rPr>
              <a:t>: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chemeClr val="lt1"/>
                </a:solidFill>
              </a:rPr>
              <a:t>The local application shall launch and be ready for user interaction within 10 seconds of being started.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90900" y="1138700"/>
            <a:ext cx="36567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Example Performance Requirements: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2371725" y="1497750"/>
            <a:ext cx="3857700" cy="336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8639175" y="48577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74829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Block Diagram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8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18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4" name="Google Shape;254;p18" title="Senior Design_Requirement Document_Final_Dra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975" y="1695461"/>
            <a:ext cx="3857701" cy="28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2769075" y="991738"/>
            <a:ext cx="30630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Example Block Diagram: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12900" y="1105775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43F5E"/>
                </a:solidFill>
              </a:rPr>
              <a:t>User Types</a:t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612900" y="1475100"/>
            <a:ext cx="7794000" cy="3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Developers</a:t>
            </a:r>
            <a:endParaRPr sz="1575">
              <a:solidFill>
                <a:srgbClr val="F8FAFC"/>
              </a:solidFill>
            </a:endParaRPr>
          </a:p>
          <a:p>
            <a:pPr indent="-328613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Development team. Assumed to be all types of users simultaneously. Access to GitHub repository.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Trainers</a:t>
            </a:r>
            <a:endParaRPr sz="1575">
              <a:solidFill>
                <a:srgbClr val="F8FAFC"/>
              </a:solidFill>
            </a:endParaRPr>
          </a:p>
          <a:p>
            <a:pPr indent="-328613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Execute and delegate training jobs. Must interact with supercomputing resource </a:t>
            </a:r>
            <a:r>
              <a:rPr lang="en-US" sz="1575">
                <a:solidFill>
                  <a:srgbClr val="F8FAFC"/>
                </a:solidFill>
              </a:rPr>
              <a:t>interface.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Visualizers</a:t>
            </a:r>
            <a:endParaRPr sz="1575">
              <a:solidFill>
                <a:srgbClr val="F8FAFC"/>
              </a:solidFill>
            </a:endParaRPr>
          </a:p>
          <a:p>
            <a:pPr indent="-328613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Must interact with Godot Simulation to run rounds. May import agents or round data.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Players</a:t>
            </a:r>
            <a:endParaRPr sz="1575">
              <a:solidFill>
                <a:srgbClr val="F8FAFC"/>
              </a:solidFill>
            </a:endParaRPr>
          </a:p>
          <a:p>
            <a:pPr indent="-328613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Participate in a robot sumo round against an agent or other player for validation or influencing training.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9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457200" y="1435550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43F5E"/>
                </a:solidFill>
              </a:rPr>
              <a:t>User Facing Machines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442600" y="1774150"/>
            <a:ext cx="3781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Robot Sumo Simulation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Supercomputing Resource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85" name="Google Shape;2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675" y="1321975"/>
            <a:ext cx="4463800" cy="28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/>
          <p:nvPr/>
        </p:nvSpPr>
        <p:spPr>
          <a:xfrm>
            <a:off x="442600" y="2633613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F43F5E"/>
                </a:solidFill>
              </a:rPr>
              <a:t>Non-</a:t>
            </a:r>
            <a:r>
              <a:rPr b="1" lang="en-US" sz="1725">
                <a:solidFill>
                  <a:srgbClr val="F43F5E"/>
                </a:solidFill>
              </a:rPr>
              <a:t>User Facing Machines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57200" y="2972450"/>
            <a:ext cx="3781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8613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RL API</a:t>
            </a:r>
            <a:endParaRPr sz="1575">
              <a:solidFill>
                <a:srgbClr val="F8FAFC"/>
              </a:solidFill>
            </a:endParaRPr>
          </a:p>
          <a:p>
            <a:pPr indent="-328613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Gymnasium</a:t>
            </a:r>
            <a:endParaRPr sz="1575">
              <a:solidFill>
                <a:srgbClr val="F8FAFC"/>
              </a:solidFill>
            </a:endParaRPr>
          </a:p>
          <a:p>
            <a:pPr indent="-328613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Petting Zoo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20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20"/>
          <p:cNvSpPr/>
          <p:nvPr/>
        </p:nvSpPr>
        <p:spPr>
          <a:xfrm>
            <a:off x="4789125" y="863100"/>
            <a:ext cx="2316900" cy="3567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System Architecture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531313"/>
            <a:ext cx="59436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21"/>
          <p:cNvSpPr/>
          <p:nvPr/>
        </p:nvSpPr>
        <p:spPr>
          <a:xfrm>
            <a:off x="3413550" y="1086550"/>
            <a:ext cx="2316900" cy="3567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Godot Simulation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450" y="1698902"/>
            <a:ext cx="6981100" cy="18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22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2"/>
          <p:cNvSpPr/>
          <p:nvPr/>
        </p:nvSpPr>
        <p:spPr>
          <a:xfrm>
            <a:off x="3413550" y="1231450"/>
            <a:ext cx="2316900" cy="3567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Training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967925"/>
            <a:ext cx="5695950" cy="3800475"/>
          </a:xfrm>
          <a:prstGeom prst="rect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3" name="Google Shape;333;p23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Document: Mock GUI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23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3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Test Document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4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4"/>
          <p:cNvSpPr txBox="1"/>
          <p:nvPr/>
        </p:nvSpPr>
        <p:spPr>
          <a:xfrm>
            <a:off x="228600" y="549100"/>
            <a:ext cx="76605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Reinforcement Learning Tests (RLT)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3.2.2 Single-Agent RL Training 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3.2.3 Progressive Training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3.2.6 Multi-Agent Reinforcement Learning (MARL)</a:t>
            </a:r>
            <a:endParaRPr sz="1550">
              <a:solidFill>
                <a:schemeClr val="lt1"/>
              </a:solidFill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Reinforcement Learning Configuration (RLC) 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3.2.1 Match Configuration 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3.2.7: Custom Agent Implementation</a:t>
            </a:r>
            <a:endParaRPr sz="1550">
              <a:solidFill>
                <a:schemeClr val="lt1"/>
              </a:solidFill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Physics Engine Tests(PET)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3.2.4 Pre-Trained Agent Visualization</a:t>
            </a:r>
            <a:endParaRPr sz="1550">
              <a:solidFill>
                <a:schemeClr val="lt1"/>
              </a:solidFill>
            </a:endParaRPr>
          </a:p>
          <a:p>
            <a:pPr indent="-32702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3.2.5 Direct User Participation</a:t>
            </a:r>
            <a:endParaRPr sz="15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0" y="0"/>
            <a:ext cx="2476500" cy="190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6762750" y="0"/>
            <a:ext cx="2381250" cy="1905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13" y="1044950"/>
            <a:ext cx="8282376" cy="3587000"/>
          </a:xfrm>
          <a:prstGeom prst="rect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1" name="Google Shape;361;p2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Milestone 1: Conclusion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2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2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/>
          <p:nvPr/>
        </p:nvSpPr>
        <p:spPr>
          <a:xfrm>
            <a:off x="1695463" y="2219325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</a:rPr>
              <a:t>Milestone 2 Tasks</a:t>
            </a:r>
            <a:endParaRPr b="1" sz="2500">
              <a:solidFill>
                <a:srgbClr val="F8FAFC"/>
              </a:solidFill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6D9EEB"/>
          </a:solidFill>
          <a:ln cap="flat" cmpd="sng" w="2857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4</a:t>
            </a:r>
            <a:endParaRPr b="1"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612900" y="1105775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t/>
            </a:r>
            <a:endParaRPr b="1" sz="1725">
              <a:solidFill>
                <a:srgbClr val="F43F5E"/>
              </a:solidFill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390900" y="1545725"/>
            <a:ext cx="77940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861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Implement robot models with corresponding hitboxes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Give robots the ability to interact with the environment and set start and end </a:t>
            </a:r>
            <a:r>
              <a:rPr lang="en-US" sz="1575">
                <a:solidFill>
                  <a:srgbClr val="F8FAFC"/>
                </a:solidFill>
              </a:rPr>
              <a:t>conditions</a:t>
            </a:r>
            <a:r>
              <a:rPr lang="en-US" sz="1575">
                <a:solidFill>
                  <a:srgbClr val="F8FAFC"/>
                </a:solidFill>
              </a:rPr>
              <a:t> for a sumo match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Give exposable inputs for the robot controller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Provide readable full state feedback for RL training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Implement a basic interface for the simulation and RL API</a:t>
            </a:r>
            <a:endParaRPr sz="1575">
              <a:solidFill>
                <a:srgbClr val="F8FAFC"/>
              </a:solidFill>
            </a:endParaRPr>
          </a:p>
          <a:p>
            <a:pPr indent="-32861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Research specific RL algorithms that are best suited to the project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Milestone 2: Overview of Tasks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2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cap="flat" cmpd="sng" w="209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2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cap="flat" cmpd="sng" w="209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27"/>
          <p:cNvSpPr/>
          <p:nvPr/>
        </p:nvSpPr>
        <p:spPr>
          <a:xfrm>
            <a:off x="390900" y="1089425"/>
            <a:ext cx="1012500" cy="356700"/>
          </a:xfrm>
          <a:prstGeom prst="roundRect">
            <a:avLst>
              <a:gd fmla="val 16667" name="adj"/>
            </a:avLst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Tasks: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E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8"/>
          <p:cNvSpPr/>
          <p:nvPr/>
        </p:nvSpPr>
        <p:spPr>
          <a:xfrm>
            <a:off x="1695450" y="213360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b="1" lang="en-US" sz="465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401" name="Google Shape;401;p28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8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5</a:t>
            </a:r>
            <a:endParaRPr b="1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